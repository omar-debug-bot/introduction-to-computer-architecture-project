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00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Scientific Calculator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Processing Unit Using MARIE Processor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50292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34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Computer Architecture Project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 smtClean="0">
                <a:solidFill>
                  <a:srgbClr val="90A4AE"/>
                </a:solidFill>
                <a:latin typeface="Calibri Light" pitchFamily="34" charset="0"/>
                <a:cs typeface="Calibri Light" pitchFamily="34" charset="-120"/>
              </a:rPr>
              <a:t>Name 1: Omar </a:t>
            </a:r>
            <a:r>
              <a:rPr lang="en-US" sz="1300" dirty="0" err="1" smtClean="0">
                <a:solidFill>
                  <a:srgbClr val="90A4AE"/>
                </a:solidFill>
                <a:latin typeface="Calibri Light" pitchFamily="34" charset="0"/>
                <a:cs typeface="Calibri Light" pitchFamily="34" charset="-120"/>
              </a:rPr>
              <a:t>Akram</a:t>
            </a:r>
            <a:r>
              <a:rPr lang="en-US" sz="1300" dirty="0" smtClean="0">
                <a:solidFill>
                  <a:srgbClr val="90A4AE"/>
                </a:solidFill>
                <a:latin typeface="Calibri Light" pitchFamily="34" charset="0"/>
                <a:cs typeface="Calibri Light" pitchFamily="34" charset="-120"/>
              </a:rPr>
              <a:t> Id:241004666</a:t>
            </a:r>
          </a:p>
          <a:p>
            <a:r>
              <a:rPr lang="en-US" sz="1300" dirty="0" smtClean="0">
                <a:solidFill>
                  <a:srgbClr val="90A4AE"/>
                </a:solidFill>
                <a:latin typeface="Calibri Light" pitchFamily="34" charset="0"/>
                <a:cs typeface="Calibri Light" pitchFamily="34" charset="-120"/>
              </a:rPr>
              <a:t>Name </a:t>
            </a:r>
            <a:r>
              <a:rPr lang="en-US" sz="1300" dirty="0">
                <a:solidFill>
                  <a:srgbClr val="90A4AE"/>
                </a:solidFill>
                <a:latin typeface="Calibri Light" pitchFamily="34" charset="0"/>
                <a:cs typeface="Calibri Light" pitchFamily="34" charset="-120"/>
              </a:rPr>
              <a:t>2:Seif Yasser Id:241004681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54864" cy="44577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project presents the design and implementation of a scientific calculator that simulates the operational behavior of the MARIE (Machine Architecture that is Really Intuitive and Easy) processor.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system models the core architectural components — Accumulator (AC), Program Counter (PC), Instruction Register (IR), and addressable memory — and executes thirteen mathematical operations through a simulated fetch-decode-execute instruction cycle.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application is implemented in Python using the Tkinter GUI library, providing real-time visualization of register state changes.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MARIE processor · fetch-decode-execute · accumulator · RTL notation · scientific calculator · Python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50876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Processor architecture concepts are often taught in purely theoretical contexts, limiting practical comprehension of fetch-decode-execute cycles.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822960"/>
            <a:ext cx="274320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50876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a functional data processing unit mapping real mathematical computation onto the MARIE processor model, showing how hardware operations underpin software.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3556" y="82918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822960"/>
            <a:ext cx="2743200" cy="5486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50876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Simulate MARIE registers (AC, PC, IR) · Implement 13 operations · Visualize register state in real time via GUI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MARIE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MARIE?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Machine Architecture that is Really Intuitive and Easy — a simplified, educational CPU model that demonstrates core processor principles: registers, memory addressing, and the instruction cycle.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2377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operands and ALU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of next 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executing 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Address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being accessed in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Buffer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read from / written to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Instructions: LOAD  ·  STORE  ·  ADD  ·  SUBT  ·  SKIPCOND  ·  JUMP  ·  HALT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FETCH-DECODE-EXECUTE CYCLE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274320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5603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 ← Memory[PC]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← PC + 1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PC points to the next instruction. It is loaded into the IR and the PC increments.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35808" y="192024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822960"/>
            <a:ext cx="274320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822960"/>
            <a:ext cx="274320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9272" y="1463040"/>
            <a:ext cx="25603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← IR[15:12]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Operand ← IR[11:0]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4688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processor reads the opcode from the IR and identifies the operation to perform.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16459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822960"/>
            <a:ext cx="2743200" cy="39776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822960"/>
            <a:ext cx="2743200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2784" y="1463040"/>
            <a:ext cx="256032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 ← AC op Memory[Addr]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24688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identified operation runs on the AC. Result is stored. Registers update.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button press triggers this complete cycle — maintaining full MARIE architectural fidelity.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12064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(GUI Fields)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243584"/>
            <a:ext cx="0" cy="1371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0744"/>
            <a:ext cx="512064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8074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 → Opcode Selection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1819656"/>
            <a:ext cx="0" cy="1371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56816"/>
            <a:ext cx="51206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9568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IR ← Operation Name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34640" y="2395728"/>
            <a:ext cx="0" cy="1371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32888"/>
            <a:ext cx="51206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5328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AC ← memory[100] ← Operand 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34640" y="2971800"/>
            <a:ext cx="0" cy="1371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08960"/>
            <a:ext cx="51206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1089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AC ← AC op memory[101]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3547872"/>
            <a:ext cx="0" cy="1371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85032"/>
            <a:ext cx="51206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6850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memory[102] ← AC  |  PC ← PC + 1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34640" y="4123944"/>
            <a:ext cx="0" cy="13716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61104"/>
            <a:ext cx="5120640" cy="4389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42611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Result + Register State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60720" y="822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1188720"/>
            <a:ext cx="301752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15727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E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Tkinter GUI — input fields, buttons, register panel, result display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2423160"/>
            <a:ext cx="301752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0644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06440" y="280720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E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calculate(), load(), store() — implements instruction cycle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3657600"/>
            <a:ext cx="301752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064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06440" y="40416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AC, PC, IR, memory{} — global processor state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ORGANIZATION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45920" cy="1097280"/>
          </a:xfrm>
          <a:prstGeom prst="rect">
            <a:avLst/>
          </a:prstGeom>
          <a:solidFill>
            <a:srgbClr val="0A1628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memory[100]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3716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822960"/>
            <a:ext cx="6583680" cy="10972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8961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2984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user input (loaded via LOAD instruction)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645920" cy="1097280"/>
          </a:xfrm>
          <a:prstGeom prst="rect">
            <a:avLst/>
          </a:prstGeom>
          <a:solidFill>
            <a:srgbClr val="0A1628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memory[101]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27432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2194560"/>
            <a:ext cx="658368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22677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670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Second user input (binary operations only)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1645920" cy="1097280"/>
          </a:xfrm>
          <a:prstGeom prst="rect">
            <a:avLst/>
          </a:prstGeom>
          <a:solidFill>
            <a:srgbClr val="0A1628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661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memory[102]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20240" y="4114800"/>
            <a:ext cx="27432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3566160"/>
            <a:ext cx="6583680" cy="10972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31720" y="36393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416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of operation — stored via STORE instruction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mirrors a MARIE assembly program: LOAD → operate with memory operand → STORE result.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SET IMPLEMENTATION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Operations  (Operand A + Operand B required)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4206240" cy="2011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Notation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AC + memory[101]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AC − memory[101]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AC × memory[101]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AC ÷ memory[101]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AC ^ memory[101]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Operations  (Operand A only)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15568"/>
          <a:ext cx="4206240" cy="28346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Notation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√AC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sin(AC × π/180)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cos(AC × π/180)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tan(AC × π/180)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base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log₁₀(AC)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logₑ(AC)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AC!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← |AC|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383280"/>
            <a:ext cx="1463040" cy="14630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5"/>
          <p:cNvSpPr/>
          <p:nvPr/>
        </p:nvSpPr>
        <p:spPr>
          <a:xfrm>
            <a:off x="274320" y="345643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27432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920240" y="3429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Binary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Unary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EXCEPTION MANAGEMENT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by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== 0, op == DIVIDE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dialog shown · Execution halts · PC does not increment · AC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SQRT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 0, op == SQRT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dialog shown · Execution halts · PC does not increment · AC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≤ 0, op == LOG or LN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dialog shown · Execution halts · PC does not increment · AC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Non-numeric input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 caught · Error dialog shown · State fully preserved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C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8595360" cy="960120"/>
          </a:xfrm>
          <a:prstGeom prst="rect">
            <a:avLst/>
          </a:prstGeom>
          <a:solidFill>
            <a:srgbClr val="0A1628"/>
          </a:solidFill>
          <a:ln w="254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any exception, execution halts, the PC does not increment, and the AC retains its previous value — consistent with MARIE's SKIPCOND fault behavior.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DEMONSTRATION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Register State After Sequential Operations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(Result)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83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566160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547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PC increments by 1 after each successful instruction — PC does NOT increment on error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4023360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0050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 updates to reflect the exact opcode name of the last executed instruction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4480560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8"/>
          <p:cNvSpPr/>
          <p:nvPr/>
        </p:nvSpPr>
        <p:spPr>
          <a:xfrm>
            <a:off x="685800" y="44622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 holds the accumulated result, mirroring the MARIE accumulator specification exactly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5204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[ Insert screenshot of running GUI here 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41248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96112"/>
            <a:ext cx="2788920" cy="39776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96112"/>
            <a:ext cx="278892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96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Successful functional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mapped real </a:t>
            </a: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processor 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MARIE into working app.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cs typeface="Calibri Light" pitchFamily="34" charset="-120"/>
              </a:rPr>
              <a:t>Covers all 13 operation and every one goes through fetch=&gt;decode=&gt;</a:t>
            </a:r>
            <a:r>
              <a:rPr lang="en-US" sz="1150" dirty="0" err="1" smtClean="0">
                <a:solidFill>
                  <a:srgbClr val="FFFFFF"/>
                </a:solidFill>
                <a:latin typeface="Calibri Light" pitchFamily="34" charset="0"/>
                <a:cs typeface="Calibri Light" pitchFamily="34" charset="-120"/>
              </a:rPr>
              <a:t>excute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Provided real-time register visualization 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(PC, IR, AC) for reinforcing </a:t>
            </a: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architectural 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896112"/>
            <a:ext cx="2788920" cy="39776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896112"/>
            <a:ext cx="2788920" cy="45720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896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82696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space limited to three fixed addresses (100, 101, 102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 with no 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 bank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IR stores symbolic strings </a:t>
            </a: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like the IR =&gt; “ADD” rather </a:t>
            </a: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 binary 16-bit opcodes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Runs one instruction at time and don’t pipeline </a:t>
            </a:r>
            <a:r>
              <a:rPr lang="en-US" sz="1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simulation or sequential multi-instruction execution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17336" y="896112"/>
            <a:ext cx="2788920" cy="397764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896112"/>
            <a:ext cx="278892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896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7064" y="14630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cs typeface="Calibri Light" pitchFamily="34" charset="-120"/>
              </a:rPr>
              <a:t>Load and run full MARIE assembly programs step by step</a:t>
            </a:r>
            <a:endParaRPr lang="en-US" sz="1150" dirty="0" smtClean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cs typeface="Calibri Light" pitchFamily="34" charset="-120"/>
              </a:rPr>
              <a:t>Make the IR store real 16 bit binary opcode like an actual MARIE.</a:t>
            </a:r>
            <a:endParaRPr lang="en-US" sz="1150" dirty="0" smtClean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 smtClean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memory dump panel to make user see all memory addressing and interactive debugger interface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321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L. M. Null and J. Lobur, The Essentials of Computer Organization and Architecture, 5th ed. Burlington, MA: Jones &amp; Bartlett Learning, 2019.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8321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IEEE Std 1016-2009, IEEE Standard for Information Technology — Systems Design — Software Design Descriptions. New York, NY: IEEE, 2009.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24328"/>
            <a:ext cx="8321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Python Software Foundation, "tkinter — Python Interface to Tcl/Tk," Python 3 Documentation, 2024. [Online]. Available: https://docs.python.org/3/library/tkinter.html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474720"/>
            <a:ext cx="859536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93008"/>
            <a:ext cx="83210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Python Software Foundation, "math — Mathematical Functions," Python 3 Documentation, 2024. [Online]. Available: https://docs.python.org/3/library/math.html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MARIE Scientific Calculator  ·  Computer Architecture Project  ·  IEEE Format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1197</Words>
  <Application>Microsoft Office PowerPoint</Application>
  <PresentationFormat>On-screen Show (16:9)</PresentationFormat>
  <Paragraphs>224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MARIE Scientific Calculator - IEEE Presentation</dc:title>
  <dc:subject>PptxGenJS Presentation</dc:subject>
  <dc:creator>PptxGenJS</dc:creator>
  <cp:lastModifiedBy>Omar</cp:lastModifiedBy>
  <cp:revision>12</cp:revision>
  <dcterms:created xsi:type="dcterms:W3CDTF">2026-05-10T15:51:54Z</dcterms:created>
  <dcterms:modified xsi:type="dcterms:W3CDTF">2026-05-12T09:45:58Z</dcterms:modified>
</cp:coreProperties>
</file>